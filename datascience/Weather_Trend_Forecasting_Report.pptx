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6858000" cx="12192000"/>
  <p:notesSz cx="6858000" cy="12192000"/>
  <p:embeddedFontLst>
    <p:embeddedFont>
      <p:font typeface="Roboto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84B1D12-99F9-4C33-ACFF-08FB6A5CD69F}">
  <a:tblStyle styleId="{884B1D12-99F9-4C33-ACFF-08FB6A5CD69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font" Target="fonts/Roboto-bold.fntdata"/><Relationship Id="rId10" Type="http://schemas.openxmlformats.org/officeDocument/2006/relationships/slide" Target="slides/slide5.xml"/><Relationship Id="rId21" Type="http://schemas.openxmlformats.org/officeDocument/2006/relationships/font" Target="fonts/Roboto-regular.fntdata"/><Relationship Id="rId13" Type="http://schemas.openxmlformats.org/officeDocument/2006/relationships/slide" Target="slides/slide8.xml"/><Relationship Id="rId24" Type="http://schemas.openxmlformats.org/officeDocument/2006/relationships/font" Target="fonts/Roboto-boldItalic.fntdata"/><Relationship Id="rId12" Type="http://schemas.openxmlformats.org/officeDocument/2006/relationships/slide" Target="slides/slide7.xml"/><Relationship Id="rId23" Type="http://schemas.openxmlformats.org/officeDocument/2006/relationships/font" Target="fonts/Roboto-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1400"/>
              </a:spcAft>
              <a:buSzPts val="1100"/>
              <a:buNone/>
            </a:pPr>
            <a:r>
              <a:t/>
            </a:r>
            <a:endParaRPr i="1" sz="145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" name="Google Shape;4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140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1" name="Google Shape;8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140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1" name="Google Shape;9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2" name="Google Shape;10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140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5" name="Google Shape;125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140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9" name="Google Shape;159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140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0" name="Google Shape;17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140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8" name="Google Shape;198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" name="Google Shape;211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1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1295C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9326880" y="-1371600"/>
            <a:ext cx="4572000" cy="457200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731520" y="2286000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A54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2A541"/>
                </a:solidFill>
                <a:latin typeface="Calibri"/>
                <a:ea typeface="Calibri"/>
                <a:cs typeface="Calibri"/>
                <a:sym typeface="Calibri"/>
              </a:rPr>
              <a:t>WEATHER TREND FORECASTING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731520" y="2697480"/>
            <a:ext cx="10058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mbria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Technical Analysis Report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731520" y="3611880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Global Weather Repository — Cleaning, EDA, Anomaly Detection &amp; Multi-Model Forecasting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731520" y="603504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4C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FB4C7"/>
                </a:solidFill>
                <a:latin typeface="Calibri"/>
                <a:ea typeface="Calibri"/>
                <a:cs typeface="Calibri"/>
                <a:sym typeface="Calibri"/>
              </a:rPr>
              <a:t>PM Accelerator · Data Science Tech Assessment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PROJECT OVERVIEW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548640" y="59436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rPr>
              <a:t>Objective &amp; Dataset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548640" y="1737360"/>
            <a:ext cx="594360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500"/>
              <a:buFont typeface="Calibri"/>
              <a:buChar char="✦"/>
            </a:pPr>
            <a:r>
              <a:rPr b="0" i="0" lang="en-US" sz="15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Analyze the Global Weather Repository dataset (Kaggle) to uncover trends and forecast future weather conditions.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21295C"/>
              </a:buClr>
              <a:buSzPts val="1500"/>
              <a:buFont typeface="Calibri"/>
              <a:buChar char="✦"/>
            </a:pPr>
            <a:r>
              <a:rPr b="0" i="0" lang="en-US" sz="15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154,</a:t>
            </a:r>
            <a:r>
              <a:rPr lang="en-US" sz="1500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946</a:t>
            </a:r>
            <a:r>
              <a:rPr b="0" i="0" lang="en-US" sz="15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 rows across 41 features — 211 raw country labels, hourly-updated readings.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21295C"/>
              </a:buClr>
              <a:buSzPts val="1500"/>
              <a:buFont typeface="Calibri"/>
              <a:buChar char="✦"/>
            </a:pPr>
            <a:r>
              <a:rPr b="0" i="0" lang="en-US" sz="15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Time span: May 2024 through July 2026 (~2 years), enough to see a full seasonal cycle.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21295C"/>
              </a:buClr>
              <a:buSzPts val="1500"/>
              <a:buFont typeface="Calibri"/>
              <a:buChar char="✦"/>
            </a:pPr>
            <a:r>
              <a:rPr b="0" i="0" lang="en-US" sz="15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Full scope covered: data cleaning, EDA, anomaly detection, climate &amp; geospatial analysis, multi-model forecasting, cross-validation, and feature importance.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6903720" y="1737360"/>
            <a:ext cx="4754880" cy="960120"/>
          </a:xfrm>
          <a:prstGeom prst="rect">
            <a:avLst/>
          </a:prstGeom>
          <a:solidFill>
            <a:srgbClr val="EAF3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7132320" y="1810512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2800"/>
              <a:buFont typeface="Cambria"/>
              <a:buNone/>
            </a:pPr>
            <a:r>
              <a:rPr b="1" i="0" lang="en-US" sz="28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154,</a:t>
            </a:r>
            <a:r>
              <a:rPr b="1" lang="en-US" sz="2800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946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9052560" y="1938528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rows analyzed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6903720" y="2852928"/>
            <a:ext cx="4754880" cy="960120"/>
          </a:xfrm>
          <a:prstGeom prst="rect">
            <a:avLst/>
          </a:prstGeom>
          <a:solidFill>
            <a:srgbClr val="EAF3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7132320" y="2926080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2800"/>
              <a:buFont typeface="Cambria"/>
              <a:buNone/>
            </a:pPr>
            <a:r>
              <a:rPr b="1" i="0" lang="en-US" sz="28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41 → 34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9052560" y="305409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features after redundancy removal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6903720" y="3968496"/>
            <a:ext cx="4754880" cy="960120"/>
          </a:xfrm>
          <a:prstGeom prst="rect">
            <a:avLst/>
          </a:prstGeom>
          <a:solidFill>
            <a:srgbClr val="EAF3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7132320" y="4041648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2800"/>
              <a:buFont typeface="Cambria"/>
              <a:buNone/>
            </a:pPr>
            <a:r>
              <a:rPr b="1" i="0" lang="en-US" sz="28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192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9052560" y="41696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standardized countries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6903720" y="5084064"/>
            <a:ext cx="4754880" cy="960120"/>
          </a:xfrm>
          <a:prstGeom prst="rect">
            <a:avLst/>
          </a:prstGeom>
          <a:solidFill>
            <a:srgbClr val="EAF3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7132320" y="5157216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2800"/>
              <a:buFont typeface="Cambria"/>
              <a:buNone/>
            </a:pPr>
            <a:r>
              <a:rPr b="1" i="0" lang="en-US" sz="28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7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9052560" y="5285232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forecasting models compared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DATA CLEANING &amp; PREPROCESSING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/>
          <p:nvPr/>
        </p:nvSpPr>
        <p:spPr>
          <a:xfrm>
            <a:off x="548640" y="59436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rPr>
              <a:t>A Reusable, Traceable Cleaning Pipeline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548640" y="1737360"/>
            <a:ext cx="5349240" cy="2148840"/>
          </a:xfrm>
          <a:prstGeom prst="rect">
            <a:avLst/>
          </a:prstGeom>
          <a:solidFill>
            <a:srgbClr val="EAF3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5"/>
          <p:cNvSpPr/>
          <p:nvPr/>
        </p:nvSpPr>
        <p:spPr>
          <a:xfrm>
            <a:off x="822960" y="1920240"/>
            <a:ext cx="4800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Duplicates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822960" y="2377440"/>
            <a:ext cx="48006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Checked both strictly and on a semantic key (lat/lon/timestamp) — caught 1 hidden duplicate a naive check would miss.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6217920" y="1737360"/>
            <a:ext cx="5349240" cy="2148840"/>
          </a:xfrm>
          <a:prstGeom prst="rect">
            <a:avLst/>
          </a:prstGeom>
          <a:solidFill>
            <a:srgbClr val="EAF3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5"/>
          <p:cNvSpPr/>
          <p:nvPr/>
        </p:nvSpPr>
        <p:spPr>
          <a:xfrm>
            <a:off x="6492240" y="1920240"/>
            <a:ext cx="4800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Mixed-language labels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6492240" y="2377440"/>
            <a:ext cx="48006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Standardized 4,318 rows where country names appeared in Russian, Chinese, Portuguese, German, Arabic, etc. (211 → 192 countries).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548640" y="4160520"/>
            <a:ext cx="5349240" cy="2148840"/>
          </a:xfrm>
          <a:prstGeom prst="rect">
            <a:avLst/>
          </a:prstGeom>
          <a:solidFill>
            <a:srgbClr val="EAF3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822960" y="4343400"/>
            <a:ext cx="4800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Redundant columns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822960" y="4800600"/>
            <a:ext cx="48006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Correlation matrix (≥0.99) identified 7 duplicate-unit columns (°F/°C, mph/kph, etc.) — dropped for a leaner 34-feature set.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6217920" y="4160520"/>
            <a:ext cx="5349240" cy="2148840"/>
          </a:xfrm>
          <a:prstGeom prst="rect">
            <a:avLst/>
          </a:prstGeom>
          <a:solidFill>
            <a:srgbClr val="EAF3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5"/>
          <p:cNvSpPr/>
          <p:nvPr/>
        </p:nvSpPr>
        <p:spPr>
          <a:xfrm>
            <a:off x="6492240" y="4343400"/>
            <a:ext cx="4800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Outliers &amp; missing values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6492240" y="4800600"/>
            <a:ext cx="48006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One reusable cap_and_impute() function: cap physically impossible values to NaN, then drop (&lt;5% impact) or group-median impute (≥5% impact).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6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DATA CLEANING &amp; PREPROCESSING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6"/>
          <p:cNvSpPr/>
          <p:nvPr/>
        </p:nvSpPr>
        <p:spPr>
          <a:xfrm>
            <a:off x="548640" y="59436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rPr>
              <a:t>Outlier Treatment: Air Quality Readings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nb_images/cell039_3.png" id="71" name="Google Shape;7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1691640"/>
            <a:ext cx="5394960" cy="286207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home/claude/nb_images/cell041_4.png" id="72" name="Google Shape;7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72200" y="1691640"/>
            <a:ext cx="5394960" cy="2862072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6"/>
          <p:cNvSpPr/>
          <p:nvPr/>
        </p:nvSpPr>
        <p:spPr>
          <a:xfrm>
            <a:off x="548640" y="457200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Before treatment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6"/>
          <p:cNvSpPr/>
          <p:nvPr/>
        </p:nvSpPr>
        <p:spPr>
          <a:xfrm>
            <a:off x="6172200" y="457200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After 3×IQR capping + group-median imputation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6"/>
          <p:cNvSpPr/>
          <p:nvPr/>
        </p:nvSpPr>
        <p:spPr>
          <a:xfrm>
            <a:off x="548640" y="5074920"/>
            <a:ext cx="11018520" cy="105156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6"/>
          <p:cNvSpPr/>
          <p:nvPr/>
        </p:nvSpPr>
        <p:spPr>
          <a:xfrm>
            <a:off x="822960" y="5193792"/>
            <a:ext cx="104241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 official sensor ceiling for pollution readings, so a wider 3×IQR bound (not the usual 1.5×) was used deliberately — wide enough to catch sensor glitches without discarding genuine extreme-pollution events.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6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7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EXPLORATORY DATA ANALYSIS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7"/>
          <p:cNvSpPr/>
          <p:nvPr/>
        </p:nvSpPr>
        <p:spPr>
          <a:xfrm>
            <a:off x="548640" y="59436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rPr>
              <a:t>Correlation Matrix — Trimming Redundancy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nb_images/cell026_1.png" id="85" name="Google Shape;85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1691640"/>
            <a:ext cx="6492240" cy="4263196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7"/>
          <p:cNvSpPr/>
          <p:nvPr/>
        </p:nvSpPr>
        <p:spPr>
          <a:xfrm>
            <a:off x="7315200" y="1920240"/>
            <a:ext cx="4343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400"/>
              <a:buFont typeface="Calibri"/>
              <a:buChar char="✦"/>
            </a:pPr>
            <a:r>
              <a:rPr b="0" i="0" lang="en-US" sz="14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Filtered heatmap (|corr| ≥ 0.4) surfaces the meaningful relationships and hides noise.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21295C"/>
              </a:buClr>
              <a:buSzPts val="1400"/>
              <a:buFont typeface="Calibri"/>
              <a:buChar char="✦"/>
            </a:pPr>
            <a:r>
              <a:rPr b="0" i="0" lang="en-US" sz="14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Pairs at corr ≥ 0.99 are unit duplicates, not real signal (e.g. temperature_celsius vs. temperature_fahrenheit).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21295C"/>
              </a:buClr>
              <a:buSzPts val="1400"/>
              <a:buFont typeface="Calibri"/>
              <a:buChar char="✦"/>
            </a:pPr>
            <a:r>
              <a:rPr b="0" i="0" lang="en-US" sz="14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7 redundant columns dropped, reducing the feature space from 41 to 34 without losing information.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7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8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EXPLORATORY DATA ANALYSIS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8"/>
          <p:cNvSpPr/>
          <p:nvPr/>
        </p:nvSpPr>
        <p:spPr>
          <a:xfrm>
            <a:off x="548640" y="59436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rPr>
              <a:t>Global Temperature &amp; Precipitation Trends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nb_images/cell046_5.png" id="95" name="Google Shape;9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1545725"/>
            <a:ext cx="11064239" cy="3903153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8"/>
          <p:cNvSpPr/>
          <p:nvPr/>
        </p:nvSpPr>
        <p:spPr>
          <a:xfrm>
            <a:off x="548640" y="379476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Daily average global temperature — clear seasonal cycle visible across the ~2-year span.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nb_images/cell048_6.png" id="97" name="Google Shape;97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4251960"/>
            <a:ext cx="11064239" cy="341188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8"/>
          <p:cNvSpPr/>
          <p:nvPr/>
        </p:nvSpPr>
        <p:spPr>
          <a:xfrm>
            <a:off x="548640" y="6309360"/>
            <a:ext cx="11064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Precipitation is spiky (most days dry) — a histogram alongside the time series makes the distribution readable.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8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9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ADVANCED EDA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9"/>
          <p:cNvSpPr/>
          <p:nvPr/>
        </p:nvSpPr>
        <p:spPr>
          <a:xfrm>
            <a:off x="548640" y="59436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rPr>
              <a:t>Anomaly Detection — Three Methods, One Signal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nb_images/cell052_7.png" id="107" name="Google Shape;107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1600200"/>
            <a:ext cx="6400800" cy="4557517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9"/>
          <p:cNvSpPr/>
          <p:nvPr/>
        </p:nvSpPr>
        <p:spPr>
          <a:xfrm>
            <a:off x="7315200" y="1828800"/>
            <a:ext cx="4343400" cy="777240"/>
          </a:xfrm>
          <a:prstGeom prst="rect">
            <a:avLst/>
          </a:prstGeom>
          <a:solidFill>
            <a:srgbClr val="EAF3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9"/>
          <p:cNvSpPr/>
          <p:nvPr/>
        </p:nvSpPr>
        <p:spPr>
          <a:xfrm>
            <a:off x="7498080" y="1901952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Robust z-score (MAD)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9"/>
          <p:cNvSpPr/>
          <p:nvPr/>
        </p:nvSpPr>
        <p:spPr>
          <a:xfrm>
            <a:off x="7498080" y="2212848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1 anomalous day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315200" y="2761488"/>
            <a:ext cx="4343400" cy="777240"/>
          </a:xfrm>
          <a:prstGeom prst="rect">
            <a:avLst/>
          </a:prstGeom>
          <a:solidFill>
            <a:srgbClr val="EAF3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9"/>
          <p:cNvSpPr/>
          <p:nvPr/>
        </p:nvSpPr>
        <p:spPr>
          <a:xfrm>
            <a:off x="7498080" y="2834640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Isolation Forest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9"/>
          <p:cNvSpPr/>
          <p:nvPr/>
        </p:nvSpPr>
        <p:spPr>
          <a:xfrm>
            <a:off x="7498080" y="3145536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16 anomalous days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9"/>
          <p:cNvSpPr/>
          <p:nvPr/>
        </p:nvSpPr>
        <p:spPr>
          <a:xfrm>
            <a:off x="7315200" y="3694176"/>
            <a:ext cx="4343400" cy="777240"/>
          </a:xfrm>
          <a:prstGeom prst="rect">
            <a:avLst/>
          </a:prstGeom>
          <a:solidFill>
            <a:srgbClr val="EAF3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9"/>
          <p:cNvSpPr/>
          <p:nvPr/>
        </p:nvSpPr>
        <p:spPr>
          <a:xfrm>
            <a:off x="7498080" y="3767328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Local Outlier Factor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9"/>
          <p:cNvSpPr/>
          <p:nvPr/>
        </p:nvSpPr>
        <p:spPr>
          <a:xfrm>
            <a:off x="7498080" y="4078224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13 anomalous days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9"/>
          <p:cNvSpPr/>
          <p:nvPr/>
        </p:nvSpPr>
        <p:spPr>
          <a:xfrm>
            <a:off x="7315200" y="4626864"/>
            <a:ext cx="4343400" cy="777240"/>
          </a:xfrm>
          <a:prstGeom prst="rect">
            <a:avLst/>
          </a:prstGeom>
          <a:solidFill>
            <a:srgbClr val="EAF3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9"/>
          <p:cNvSpPr/>
          <p:nvPr/>
        </p:nvSpPr>
        <p:spPr>
          <a:xfrm>
            <a:off x="7498080" y="4700016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Flagged by both IF &amp; LOF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9"/>
          <p:cNvSpPr/>
          <p:nvPr/>
        </p:nvSpPr>
        <p:spPr>
          <a:xfrm>
            <a:off x="7498080" y="5010912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7 days — strongest candidates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9"/>
          <p:cNvSpPr/>
          <p:nvPr/>
        </p:nvSpPr>
        <p:spPr>
          <a:xfrm>
            <a:off x="7315200" y="5605272"/>
            <a:ext cx="4343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With no ground truth for global weather, agreement across methods — not a single score — is the useful signal.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9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ADVANCED EDA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0"/>
          <p:cNvSpPr/>
          <p:nvPr/>
        </p:nvSpPr>
        <p:spPr>
          <a:xfrm>
            <a:off x="548640" y="59436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rPr>
              <a:t>Climate Patterns by Continent &amp; Hemisphere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nb_images/cell063_8.png" id="129" name="Google Shape;129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1691640"/>
            <a:ext cx="5486400" cy="1805464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0"/>
          <p:cNvSpPr/>
          <p:nvPr/>
        </p:nvSpPr>
        <p:spPr>
          <a:xfrm>
            <a:off x="548640" y="3520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Average temperature &amp; PM2.5 by continent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nb_images/cell069_11.png" id="131" name="Google Shape;131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0" y="1691640"/>
            <a:ext cx="5303520" cy="2237138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0"/>
          <p:cNvSpPr/>
          <p:nvPr/>
        </p:nvSpPr>
        <p:spPr>
          <a:xfrm>
            <a:off x="6309360" y="3931920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Monthly global temperature over the full ~2-year period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0"/>
          <p:cNvSpPr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0"/>
          <p:cNvSpPr/>
          <p:nvPr/>
        </p:nvSpPr>
        <p:spPr>
          <a:xfrm>
            <a:off x="822960" y="4709160"/>
            <a:ext cx="105156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Averaging globally hides that seasons run opposite between hemispheres — Northern and Southern hemisphere temperatures were tracked separately (monthly) rather than blended into one misleading global curve.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0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ADVANCED EDA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1"/>
          <p:cNvSpPr/>
          <p:nvPr/>
        </p:nvSpPr>
        <p:spPr>
          <a:xfrm>
            <a:off x="548640" y="59436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rPr>
              <a:t>Spatial Analysis — Geographic Patterns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nb_images/cell067_10.png" id="143" name="Google Shape;14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1828800"/>
            <a:ext cx="11064240" cy="4189924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1"/>
          <p:cNvSpPr/>
          <p:nvPr/>
        </p:nvSpPr>
        <p:spPr>
          <a:xfrm>
            <a:off x="548640" y="5349240"/>
            <a:ext cx="110642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Char char="✦"/>
            </a:pPr>
            <a:r>
              <a:rPr b="0" i="0" lang="en-US" sz="13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Latitude/longitude scatter, colored by value, gives a quick geographic read without needing a full GIS library.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Char char="✦"/>
            </a:pPr>
            <a:r>
              <a:rPr b="0" i="0" lang="en-US" sz="13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Temperature map (left) shows the expected equatorial-to-polar gradient.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Char char="✦"/>
            </a:pPr>
            <a:r>
              <a:rPr b="0" i="0" lang="en-US" sz="13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PM2.5 map (right) highlights regional pollution hotspots independent of temperature.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1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2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FORECASTING PIPELINE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2"/>
          <p:cNvSpPr/>
          <p:nvPr/>
        </p:nvSpPr>
        <p:spPr>
          <a:xfrm>
            <a:off x="548640" y="59436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rPr>
              <a:t>Feature Selection — Confirming the Feature Set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nb_images/cell080_15.png" id="153" name="Google Shape;15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1691640"/>
            <a:ext cx="6675120" cy="36792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12"/>
          <p:cNvSpPr/>
          <p:nvPr/>
        </p:nvSpPr>
        <p:spPr>
          <a:xfrm>
            <a:off x="7498080" y="1828800"/>
            <a:ext cx="420624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Char char="✦"/>
            </a:pPr>
            <a:r>
              <a:rPr b="0" i="0" lang="en-US" sz="13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Variance threshold, mutual information (SelectKBest), and RFE were each tested against the full 6-feature set.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Char char="✦"/>
            </a:pPr>
            <a:r>
              <a:rPr b="0" i="0" lang="en-US" sz="13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lag_1 and rolling_mean_7 consistently rank first across every method — a "yesterday plus recent trend" signal.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Char char="✦"/>
            </a:pPr>
            <a:r>
              <a:rPr b="0" i="0" lang="en-US" sz="13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None of the reduction methods beat using all 6 hand-engineered features by a meaningful margin.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Char char="✦"/>
            </a:pPr>
            <a:r>
              <a:rPr b="0" i="0" lang="en-US" sz="13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Decision: keep the full feature set — pruning wasn't earning its complexity here.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2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3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FORECASTING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3"/>
          <p:cNvSpPr/>
          <p:nvPr/>
        </p:nvSpPr>
        <p:spPr>
          <a:xfrm>
            <a:off x="548640" y="59436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rPr>
              <a:t>Seven Models, One Fair Comparison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3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Global daily-average temperature forecast using lag features, rolling mean, and calendar features — chronological 80/20 split, no shuffling.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64" name="Google Shape;164;p13"/>
          <p:cNvGraphicFramePr/>
          <p:nvPr/>
        </p:nvGraphicFramePr>
        <p:xfrm>
          <a:off x="548640" y="2194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{884B1D12-99F9-4C33-ACFF-08FB6A5CD69F}</a:tableStyleId>
              </a:tblPr>
              <a:tblGrid>
                <a:gridCol w="3108950"/>
                <a:gridCol w="1188725"/>
                <a:gridCol w="1188725"/>
                <a:gridCol w="1188725"/>
              </a:tblGrid>
              <a:tr h="46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MAE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RMSE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R²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65A82"/>
                    </a:solidFill>
                  </a:tcPr>
                </a:tc>
              </a:tr>
              <a:tr h="46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2129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Linear Regression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3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0.313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3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0.384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3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0.977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3F7"/>
                    </a:solidFill>
                  </a:tcPr>
                </a:tc>
              </a:tr>
              <a:tr h="46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Ensemble (avg)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0.319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0.388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0.977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6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Naive (persistence)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0.315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0.398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0.976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AFB"/>
                    </a:solidFill>
                  </a:tcPr>
                </a:tc>
              </a:tr>
              <a:tr h="46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Gradient Boosting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0.340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0.411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0.974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6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Random Forest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0.358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0.445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0.970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AFB"/>
                    </a:solidFill>
                  </a:tcPr>
                </a:tc>
              </a:tr>
              <a:tr h="46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Seasonal Naive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0.580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0.738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0.916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6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Prophet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1.321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1.529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0.641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AFB"/>
                    </a:solidFill>
                  </a:tcPr>
                </a:tc>
              </a:tr>
              <a:tr h="46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ARIMA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3.816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4.527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1295C"/>
                        </a:buClr>
                        <a:buSzPts val="1250"/>
                        <a:buFont typeface="Courier New"/>
                        <a:buNone/>
                      </a:pPr>
                      <a:r>
                        <a:rPr lang="en-US" sz="1250" u="none" cap="none" strike="noStrike">
                          <a:solidFill>
                            <a:srgbClr val="21295C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-2.146</a:t>
                      </a:r>
                      <a:endParaRPr sz="125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7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5" name="Google Shape;165;p13"/>
          <p:cNvSpPr/>
          <p:nvPr/>
        </p:nvSpPr>
        <p:spPr>
          <a:xfrm>
            <a:off x="7498080" y="2194560"/>
            <a:ext cx="4160520" cy="393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Char char="✦"/>
            </a:pPr>
            <a:r>
              <a:rPr b="0" i="0" lang="en-US" sz="13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Naive persistence ("tomorrow = today") is a strong baseline — the models must beat it to justify their complexity.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Char char="✦"/>
            </a:pPr>
            <a:r>
              <a:rPr b="0" i="0" lang="en-US" sz="13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Linear Regression narrowly wins the single 80/20 split; the Ensemble is close behind.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Char char="✦"/>
            </a:pPr>
            <a:r>
              <a:rPr b="0" i="0" lang="en-US" sz="13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ARIMA and Prophet are univariate — they ignore humidity, wind, and air quality entirely, and both underperform.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3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1295C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4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3F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EAF3F7"/>
                </a:solidFill>
                <a:latin typeface="Calibri"/>
                <a:ea typeface="Calibri"/>
                <a:cs typeface="Calibri"/>
                <a:sym typeface="Calibri"/>
              </a:rPr>
              <a:t>FORECASTING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4"/>
          <p:cNvSpPr/>
          <p:nvPr/>
        </p:nvSpPr>
        <p:spPr>
          <a:xfrm>
            <a:off x="548640" y="59436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Robustness Check — Does the Winner Hold Up?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nb_images/cell104_17.png" id="174" name="Google Shape;17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1691640"/>
            <a:ext cx="6400800" cy="317127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4"/>
          <p:cNvSpPr/>
          <p:nvPr/>
        </p:nvSpPr>
        <p:spPr>
          <a:xfrm>
            <a:off x="7223760" y="1691640"/>
            <a:ext cx="4434840" cy="44805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14"/>
          <p:cNvSpPr/>
          <p:nvPr/>
        </p:nvSpPr>
        <p:spPr>
          <a:xfrm>
            <a:off x="7498080" y="1874520"/>
            <a:ext cx="39319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single 80/20 split is one snapshot of "the future." A 5-fold rolling-window time-series cross-validation was run to check whether that conclusion holds up.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4"/>
          <p:cNvSpPr/>
          <p:nvPr/>
        </p:nvSpPr>
        <p:spPr>
          <a:xfrm>
            <a:off x="7498080" y="3200400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Single-split winner: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4"/>
          <p:cNvSpPr/>
          <p:nvPr/>
        </p:nvSpPr>
        <p:spPr>
          <a:xfrm>
            <a:off x="7498080" y="3493008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A541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F2A541"/>
                </a:solidFill>
                <a:latin typeface="Cambria"/>
                <a:ea typeface="Cambria"/>
                <a:cs typeface="Cambria"/>
                <a:sym typeface="Cambria"/>
              </a:rPr>
              <a:t>Linear Regression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4"/>
          <p:cNvSpPr/>
          <p:nvPr/>
        </p:nvSpPr>
        <p:spPr>
          <a:xfrm>
            <a:off x="7498080" y="4114800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5-fold CV winner: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4"/>
          <p:cNvSpPr/>
          <p:nvPr/>
        </p:nvSpPr>
        <p:spPr>
          <a:xfrm>
            <a:off x="7498080" y="4407408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A541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F2A541"/>
                </a:solidFill>
                <a:latin typeface="Cambria"/>
                <a:ea typeface="Cambria"/>
                <a:cs typeface="Cambria"/>
                <a:sym typeface="Cambria"/>
              </a:rPr>
              <a:t>Naive (persistence)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4"/>
          <p:cNvSpPr/>
          <p:nvPr/>
        </p:nvSpPr>
        <p:spPr>
          <a:xfrm>
            <a:off x="7498080" y="5029200"/>
            <a:ext cx="39319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A difference of a few folds can flip "best" on a ~2-year series — this discrepancy is reported rather than hidden.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4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FB4C7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FB4C7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5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FEATURE IMPORTANCE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5"/>
          <p:cNvSpPr/>
          <p:nvPr/>
        </p:nvSpPr>
        <p:spPr>
          <a:xfrm>
            <a:off x="548640" y="59436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rPr>
              <a:t>Which Features Actually Drive the Forecast?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nb_images/cell110_18.png" id="190" name="Google Shape;19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1691640"/>
            <a:ext cx="5212080" cy="3459086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15"/>
          <p:cNvSpPr/>
          <p:nvPr/>
        </p:nvSpPr>
        <p:spPr>
          <a:xfrm>
            <a:off x="548640" y="51663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1. Built-in (impurity-based) importance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nb_images/cell112_19.png" id="192" name="Google Shape;19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0" y="1691640"/>
            <a:ext cx="5212080" cy="3459086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15"/>
          <p:cNvSpPr/>
          <p:nvPr/>
        </p:nvSpPr>
        <p:spPr>
          <a:xfrm>
            <a:off x="6309360" y="51663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2. Permutation importance (model-agnostic)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5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6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WRAP-UP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6"/>
          <p:cNvSpPr/>
          <p:nvPr/>
        </p:nvSpPr>
        <p:spPr>
          <a:xfrm>
            <a:off x="548640" y="59436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rPr>
              <a:t>Key Insights &amp; Honest Limitations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6"/>
          <p:cNvSpPr/>
          <p:nvPr/>
        </p:nvSpPr>
        <p:spPr>
          <a:xfrm>
            <a:off x="548640" y="1737360"/>
            <a:ext cx="5394960" cy="4297680"/>
          </a:xfrm>
          <a:prstGeom prst="rect">
            <a:avLst/>
          </a:prstGeom>
          <a:solidFill>
            <a:srgbClr val="EAF3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6"/>
          <p:cNvSpPr/>
          <p:nvPr/>
        </p:nvSpPr>
        <p:spPr>
          <a:xfrm>
            <a:off x="822960" y="192024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What the analysis shows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6"/>
          <p:cNvSpPr/>
          <p:nvPr/>
        </p:nvSpPr>
        <p:spPr>
          <a:xfrm>
            <a:off x="822960" y="2377440"/>
            <a:ext cx="4846320" cy="3474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Char char="✦"/>
            </a:pPr>
            <a:r>
              <a:rPr b="0" i="0" lang="en-US" sz="13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lag_1 (yesterday) and rolling_mean_7 are the dominant predictive signal across every feature-selection and importance method.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Char char="✦"/>
            </a:pPr>
            <a:r>
              <a:rPr b="0" i="0" lang="en-US" sz="13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Anomaly detection agreement (3 methods) is more trustworthy than any single method alone.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Char char="✦"/>
            </a:pPr>
            <a:r>
              <a:rPr b="0" i="0" lang="en-US" sz="1300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Seasonality is real but hemisphere-dependent — never average it away globally.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6"/>
          <p:cNvSpPr/>
          <p:nvPr/>
        </p:nvSpPr>
        <p:spPr>
          <a:xfrm>
            <a:off x="6172200" y="1737360"/>
            <a:ext cx="5440680" cy="429768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"/>
          <p:cNvSpPr/>
          <p:nvPr/>
        </p:nvSpPr>
        <p:spPr>
          <a:xfrm>
            <a:off x="6446520" y="1920240"/>
            <a:ext cx="4892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A541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F2A541"/>
                </a:solidFill>
                <a:latin typeface="Cambria"/>
                <a:ea typeface="Cambria"/>
                <a:cs typeface="Cambria"/>
                <a:sym typeface="Cambria"/>
              </a:rPr>
              <a:t>Limitations, acknowledged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6"/>
          <p:cNvSpPr/>
          <p:nvPr/>
        </p:nvSpPr>
        <p:spPr>
          <a:xfrm>
            <a:off x="6446520" y="2377440"/>
            <a:ext cx="4892040" cy="3474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Char char="✦"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CV robustness check overturns the single-split winner — naive persistence, not Linear Regression, is the more trustworthy choice.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Char char="✦"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ARIMA/Prophet are univariate and ignore humidity, wind, and air quality entirely.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Char char="✦"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Forecasting targets one aggregated global series; per-location forecasting was out of scope but would be the natural next step.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6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76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1295C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7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7"/>
          <p:cNvSpPr/>
          <p:nvPr/>
        </p:nvSpPr>
        <p:spPr>
          <a:xfrm>
            <a:off x="9875520" y="4572000"/>
            <a:ext cx="3291840" cy="329184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"/>
          <p:cNvSpPr/>
          <p:nvPr/>
        </p:nvSpPr>
        <p:spPr>
          <a:xfrm>
            <a:off x="73152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mbria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Thank You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7"/>
          <p:cNvSpPr/>
          <p:nvPr/>
        </p:nvSpPr>
        <p:spPr>
          <a:xfrm>
            <a:off x="731520" y="352044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Weather Trend Forecasting — Cleaning through Forecasting, in one traceable pipeline.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7"/>
          <p:cNvSpPr/>
          <p:nvPr/>
        </p:nvSpPr>
        <p:spPr>
          <a:xfrm>
            <a:off x="731520" y="603504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4C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FB4C7"/>
                </a:solidFill>
                <a:latin typeface="Calibri"/>
                <a:ea typeface="Calibri"/>
                <a:cs typeface="Calibri"/>
                <a:sym typeface="Calibri"/>
              </a:rPr>
              <a:t>Full notebook, code, and methodology available on request.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